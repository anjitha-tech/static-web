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0" r:id="rId4"/>
    <p:sldId id="259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768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02D7F1-2355-EA63-B08F-248CA3D19B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87C0D9-4420-BCB2-3458-67FF1DC6B1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11B29D-8969-233D-BC01-4368AC402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CDFE3-1D42-49E6-84FB-44FB6C61EEA2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2158A2-C703-BF89-64D3-1007D50A38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65EF61-145D-4BB5-59A0-1510BFC55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55322-1115-429E-BB6F-F02A920F74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87200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8F57D3-E7C9-B363-48AA-67B9CF99B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82495A-7B19-1D7D-9F84-99D73F9F88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79CEE2-F78F-B987-53AB-7842967D6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CDFE3-1D42-49E6-84FB-44FB6C61EEA2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9E85F0-E72D-ED68-620D-1F3E9BDF16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4ED9B7-26E0-2556-3752-95BC0CCB5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55322-1115-429E-BB6F-F02A920F74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8724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CD79C4-44C7-8D95-BB5A-B43A8F6FD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B14A0B-039E-4340-A25B-0CA7D9167E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50791F-A193-6F20-76EC-2B6BA57B9C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CDFE3-1D42-49E6-84FB-44FB6C61EEA2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8D3DD7-63B2-537D-B99D-3CD4F9494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02D155-EABD-5A6B-4CBF-B9E273295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55322-1115-429E-BB6F-F02A920F74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46055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A0740-8E1F-5622-54A3-74A7DC72B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EFF678-FCCF-382C-0FE8-BE259DCDEF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79EF9F-7524-5D11-4A4E-F080B5CE34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03ED2A-31D5-4359-71BB-A5CBB6B47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CDFE3-1D42-49E6-84FB-44FB6C61EEA2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C98C31-C1B3-96F9-37DA-D416C142B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8DADFF-FF5A-8750-87F5-648C43C41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55322-1115-429E-BB6F-F02A920F74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48086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EA89E-6E4A-DC1C-E598-5FFCCE8632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ADC3A8-AC86-2CCA-F96E-A201067EDC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1EF49D-4A24-0DEE-9918-A62EA29293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0E669E2-F31F-0E4A-0D81-467501FB4F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38E81B9-615A-095F-91FE-FE7ECD5197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C06772E-6BF8-64A8-4D42-FD035AEA3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CDFE3-1D42-49E6-84FB-44FB6C61EEA2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20BA264-79C8-577E-DE37-B07C011CF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4A0B721-CE6B-11CE-A671-04CDF2D23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55322-1115-429E-BB6F-F02A920F74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81924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7F054-8482-137C-97D7-6602532552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0A7EB3-3B2C-84DA-CA36-8C1EDA93E5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CDFE3-1D42-49E6-84FB-44FB6C61EEA2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0F638B-E21F-94C3-E885-C3CD086981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22301C-DA0E-C2E7-520E-9A9EC64D5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55322-1115-429E-BB6F-F02A920F74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480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6F30EEA-9A94-AF6C-F702-5F132F7DB4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CDFE3-1D42-49E6-84FB-44FB6C61EEA2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EDA566-7701-15D8-E2DF-18E4ED74E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E9C4EA-2323-2B15-956C-6D48EE47B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55322-1115-429E-BB6F-F02A920F74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40672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E8EC9-966F-4151-8CD0-0ED0B5B056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43E12D-FBE8-ED81-8C48-3786BD8B14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43C77C-DC01-C233-1272-C12BE42981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A1B4AA-297A-65DA-1240-D7E7C1A51A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CDFE3-1D42-49E6-84FB-44FB6C61EEA2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CDA071-F263-1FC7-C7BE-887413CE0A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8688A6-8CEF-2557-5A7A-0C7A3398C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55322-1115-429E-BB6F-F02A920F74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21991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08467-D0D2-805C-05D5-E74D305551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4B4F381-B71B-2CF9-21D0-08FD324586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60DAE3-6104-0EBC-D520-D0364A59E7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723005-B605-542D-0B42-6773015E9D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CDFE3-1D42-49E6-84FB-44FB6C61EEA2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4A758A-7C60-F5EB-7972-060CECD34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C5260F-3F19-A091-C72D-C76814749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55322-1115-429E-BB6F-F02A920F74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33537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0FC31-A9C7-9BB3-E048-C19A527B59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8C0711-9E1F-0246-44FA-ED4E596CA2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6826E9-37F4-E73F-D308-9EFA8AD3B5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CDFE3-1D42-49E6-84FB-44FB6C61EEA2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091180-E578-1B65-EBDF-F84709BB79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72134B-4B5F-720C-0E54-853ED0860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55322-1115-429E-BB6F-F02A920F74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40527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A1DA0F6-898B-E853-8EDA-F5C5D61FCA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485873-2E20-9531-D85A-48EAD631E7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8BA0FF-BF56-15F0-1384-8DF4587F0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CDFE3-1D42-49E6-84FB-44FB6C61EEA2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AFF341-432F-10BF-5A9C-AC931AC52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194FC0-2BAF-0AEE-5A33-8391D9031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55322-1115-429E-BB6F-F02A920F74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58531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BA95DD3-62E5-1CBE-6962-66A46F0B40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87BBF2-B211-878A-EB7D-856C2BD274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EECBA-0A65-BDC2-C275-1BD9E0AC38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9CDFE3-1D42-49E6-84FB-44FB6C61EEA2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9B5B3F-D473-7208-8E1A-C670DF9878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A00733-81AA-91EB-4EBB-007584A692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A55322-1115-429E-BB6F-F02A920F74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81606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pixnio.com/transportation-vehicles/cars-automobile/engine-automobile-car-motor-power-technology-vehicle" TargetMode="External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9D163C9-7F0F-B000-B761-C9C17F48DF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300155" cy="7700346"/>
          </a:xfrm>
          <a:prstGeom prst="rect">
            <a:avLst/>
          </a:prstGeom>
        </p:spPr>
      </p:pic>
      <p:sp>
        <p:nvSpPr>
          <p:cNvPr id="6" name="Titel 40">
            <a:extLst>
              <a:ext uri="{FF2B5EF4-FFF2-40B4-BE49-F238E27FC236}">
                <a16:creationId xmlns:a16="http://schemas.microsoft.com/office/drawing/2014/main" id="{3E2C3791-C976-5062-AE9C-CC8581C77D3A}"/>
              </a:ext>
            </a:extLst>
          </p:cNvPr>
          <p:cNvSpPr txBox="1">
            <a:spLocks/>
          </p:cNvSpPr>
          <p:nvPr/>
        </p:nvSpPr>
        <p:spPr>
          <a:xfrm>
            <a:off x="8161289" y="241030"/>
            <a:ext cx="3936953" cy="5616714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252000" tIns="1152000" rIns="252000" bIns="252000" rtlCol="0" anchor="ctr">
            <a:normAutofit fontScale="90000"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76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de-DE" sz="2800" b="1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entury Gothic"/>
                <a:ea typeface="+mj-ea"/>
                <a:cs typeface="+mj-cs"/>
              </a:rPr>
            </a:br>
            <a:br>
              <a:rPr kumimoji="0" lang="de-DE" sz="2800" b="1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entury Gothic"/>
                <a:ea typeface="+mj-ea"/>
                <a:cs typeface="+mj-cs"/>
              </a:rPr>
            </a:br>
            <a:br>
              <a:rPr kumimoji="0" lang="de-DE" sz="2800" b="1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entury Gothic"/>
                <a:ea typeface="+mj-ea"/>
                <a:cs typeface="+mj-cs"/>
              </a:rPr>
            </a:br>
            <a:br>
              <a:rPr kumimoji="0" lang="de-DE" sz="2800" b="1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entury Gothic"/>
                <a:ea typeface="+mj-ea"/>
                <a:cs typeface="+mj-cs"/>
              </a:rPr>
            </a:br>
            <a:br>
              <a:rPr kumimoji="0" lang="de-DE" sz="2800" b="1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entury Gothic"/>
                <a:ea typeface="+mj-ea"/>
                <a:cs typeface="+mj-cs"/>
              </a:rPr>
            </a:br>
            <a:br>
              <a:rPr kumimoji="0" lang="de-DE" sz="2800" b="1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entury Gothic"/>
                <a:ea typeface="+mj-ea"/>
                <a:cs typeface="+mj-cs"/>
              </a:rPr>
            </a:br>
            <a:br>
              <a:rPr kumimoji="0" lang="de-DE" sz="2800" b="1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entury Gothic"/>
                <a:ea typeface="+mj-ea"/>
                <a:cs typeface="+mj-cs"/>
              </a:rPr>
            </a:br>
            <a:br>
              <a:rPr kumimoji="0" lang="de-DE" sz="2800" b="1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entury Gothic"/>
                <a:ea typeface="+mj-ea"/>
                <a:cs typeface="+mj-cs"/>
              </a:rPr>
            </a:b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Wuerth Book" panose="020B0502020204020303" pitchFamily="34" charset="0"/>
                <a:ea typeface="+mj-ea"/>
                <a:cs typeface="+mj-cs"/>
              </a:rPr>
              <a:t>Wuerth Value Added Service – cavity wax</a:t>
            </a:r>
            <a:endParaRPr kumimoji="0" lang="de-DE" sz="4800" b="1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Wuerth Book" panose="020B0502020204020303" pitchFamily="34" charset="0"/>
              <a:ea typeface="+mj-ea"/>
              <a:cs typeface="+mj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03B7880-F3AE-FC06-79E6-E69A59D209D6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16862" y="430204"/>
            <a:ext cx="1921558" cy="420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4526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FDCE36-FFE8-BECF-C22E-48718D496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0" lang="en-US" sz="4800" b="1" i="0" u="none" strike="noStrike" kern="1200" cap="none" spc="-30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 What is Cavity Wax Treatment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5BECC8-32F6-29AE-195E-EA77EBE909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3086" y="1690688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• Protective anti-rust treatment for hidden body parts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• Applied inside cavities like doors, pillars &amp; panels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• Prevents corrosion from inside the vehicle body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B73CE7-D295-6343-AF34-7105C7AB7A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4876" y="2130526"/>
            <a:ext cx="3888130" cy="4621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98509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84AE9D5-5C2B-588D-A611-B695FFDE1574}"/>
              </a:ext>
            </a:extLst>
          </p:cNvPr>
          <p:cNvSpPr txBox="1"/>
          <p:nvPr/>
        </p:nvSpPr>
        <p:spPr>
          <a:xfrm>
            <a:off x="3014241" y="1027906"/>
            <a:ext cx="10116273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3600" dirty="0"/>
          </a:p>
          <a:p>
            <a:r>
              <a:rPr lang="en-US" sz="3600" dirty="0"/>
              <a:t>• Inspect vehicle cavities and rust areas</a:t>
            </a:r>
          </a:p>
          <a:p>
            <a:r>
              <a:rPr lang="en-US" sz="3600" dirty="0"/>
              <a:t>• Clean and dry internal panels</a:t>
            </a:r>
          </a:p>
          <a:p>
            <a:r>
              <a:rPr lang="en-US" sz="3600" dirty="0"/>
              <a:t>• Use special nozzle to spray cavity wax</a:t>
            </a:r>
          </a:p>
          <a:p>
            <a:r>
              <a:rPr lang="en-US" sz="3600" dirty="0"/>
              <a:t>• Wax spreads evenly inside hidden areas</a:t>
            </a:r>
          </a:p>
          <a:p>
            <a:r>
              <a:rPr lang="en-US" sz="3600" dirty="0"/>
              <a:t>• Excess wax wiped and final inspection done</a:t>
            </a:r>
            <a:endParaRPr lang="en-IN" sz="36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B967F72-2E22-EEA0-19F9-4CFC88EC9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/>
            </a:pPr>
            <a:r>
              <a:rPr kumimoji="0" lang="en-US" sz="6700" b="0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Cavity Wax Treatment Process</a:t>
            </a:r>
            <a:b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D352AEE-FAB9-2B87-9B43-2C9A0FB013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552" y="3854370"/>
            <a:ext cx="2894959" cy="2827746"/>
          </a:xfrm>
          <a:prstGeom prst="rect">
            <a:avLst/>
          </a:prstGeom>
          <a:effectLst>
            <a:softEdge rad="317500"/>
          </a:effectLst>
        </p:spPr>
      </p:pic>
    </p:spTree>
    <p:extLst>
      <p:ext uri="{BB962C8B-B14F-4D97-AF65-F5344CB8AC3E}">
        <p14:creationId xmlns:p14="http://schemas.microsoft.com/office/powerpoint/2010/main" val="40633260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entagon 5">
            <a:extLst>
              <a:ext uri="{FF2B5EF4-FFF2-40B4-BE49-F238E27FC236}">
                <a16:creationId xmlns:a16="http://schemas.microsoft.com/office/drawing/2014/main" id="{F4982348-7EE0-78DB-71E7-F209C3999407}"/>
              </a:ext>
            </a:extLst>
          </p:cNvPr>
          <p:cNvSpPr/>
          <p:nvPr/>
        </p:nvSpPr>
        <p:spPr>
          <a:xfrm rot="10800000">
            <a:off x="2497852" y="3589126"/>
            <a:ext cx="1692322" cy="1280160"/>
          </a:xfrm>
          <a:prstGeom prst="homePlate">
            <a:avLst>
              <a:gd name="adj" fmla="val 36141"/>
            </a:avLst>
          </a:prstGeom>
          <a:solidFill>
            <a:schemeClr val="accent1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FA03C62-7493-09D2-F6CE-1C2BDFCCE1A4}"/>
              </a:ext>
            </a:extLst>
          </p:cNvPr>
          <p:cNvSpPr/>
          <p:nvPr/>
        </p:nvSpPr>
        <p:spPr>
          <a:xfrm>
            <a:off x="4196710" y="2332212"/>
            <a:ext cx="1280160" cy="1282889"/>
          </a:xfrm>
          <a:prstGeom prst="rect">
            <a:avLst/>
          </a:prstGeom>
          <a:solidFill>
            <a:srgbClr val="E31737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2789CE1-6961-3BDE-9E7D-BFF0B503B7AB}"/>
              </a:ext>
            </a:extLst>
          </p:cNvPr>
          <p:cNvSpPr/>
          <p:nvPr/>
        </p:nvSpPr>
        <p:spPr>
          <a:xfrm>
            <a:off x="5476870" y="2308966"/>
            <a:ext cx="1280160" cy="1282889"/>
          </a:xfrm>
          <a:prstGeom prst="rect">
            <a:avLst/>
          </a:prstGeom>
          <a:solidFill>
            <a:srgbClr val="FFC427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0A6F130-4F88-1109-E1B9-5726DF84B320}"/>
              </a:ext>
            </a:extLst>
          </p:cNvPr>
          <p:cNvSpPr/>
          <p:nvPr/>
        </p:nvSpPr>
        <p:spPr>
          <a:xfrm>
            <a:off x="5470334" y="3591854"/>
            <a:ext cx="1280160" cy="128288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127F23C-C39A-EFAC-ABC8-282EAB864280}"/>
              </a:ext>
            </a:extLst>
          </p:cNvPr>
          <p:cNvSpPr/>
          <p:nvPr/>
        </p:nvSpPr>
        <p:spPr>
          <a:xfrm>
            <a:off x="4190174" y="3591855"/>
            <a:ext cx="1280160" cy="1282889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sp>
        <p:nvSpPr>
          <p:cNvPr id="12" name="Pentagon 5">
            <a:extLst>
              <a:ext uri="{FF2B5EF4-FFF2-40B4-BE49-F238E27FC236}">
                <a16:creationId xmlns:a16="http://schemas.microsoft.com/office/drawing/2014/main" id="{A92E0282-6A0A-1020-D1A6-E910EDB42188}"/>
              </a:ext>
            </a:extLst>
          </p:cNvPr>
          <p:cNvSpPr/>
          <p:nvPr/>
        </p:nvSpPr>
        <p:spPr>
          <a:xfrm rot="5400000">
            <a:off x="5264253" y="5080824"/>
            <a:ext cx="1692322" cy="1280160"/>
          </a:xfrm>
          <a:prstGeom prst="homePlate">
            <a:avLst>
              <a:gd name="adj" fmla="val 36141"/>
            </a:avLst>
          </a:prstGeom>
          <a:solidFill>
            <a:schemeClr val="accent6">
              <a:lumMod val="75000"/>
            </a:schemeClr>
          </a:solidFill>
          <a:ln w="12700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sp>
        <p:nvSpPr>
          <p:cNvPr id="13" name="Pentagon 5">
            <a:extLst>
              <a:ext uri="{FF2B5EF4-FFF2-40B4-BE49-F238E27FC236}">
                <a16:creationId xmlns:a16="http://schemas.microsoft.com/office/drawing/2014/main" id="{5F07F309-9D05-BE8B-00F0-446A04C374FF}"/>
              </a:ext>
            </a:extLst>
          </p:cNvPr>
          <p:cNvSpPr/>
          <p:nvPr/>
        </p:nvSpPr>
        <p:spPr>
          <a:xfrm>
            <a:off x="6763566" y="2308966"/>
            <a:ext cx="1692322" cy="1280160"/>
          </a:xfrm>
          <a:prstGeom prst="homePlate">
            <a:avLst>
              <a:gd name="adj" fmla="val 36141"/>
            </a:avLst>
          </a:prstGeom>
          <a:solidFill>
            <a:srgbClr val="FFC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sp>
        <p:nvSpPr>
          <p:cNvPr id="14" name="Pentagon 5">
            <a:extLst>
              <a:ext uri="{FF2B5EF4-FFF2-40B4-BE49-F238E27FC236}">
                <a16:creationId xmlns:a16="http://schemas.microsoft.com/office/drawing/2014/main" id="{EE60D841-35F6-4196-E4AE-FBF93B28E0F2}"/>
              </a:ext>
            </a:extLst>
          </p:cNvPr>
          <p:cNvSpPr/>
          <p:nvPr/>
        </p:nvSpPr>
        <p:spPr>
          <a:xfrm rot="16200000">
            <a:off x="3984093" y="844607"/>
            <a:ext cx="1692322" cy="1280160"/>
          </a:xfrm>
          <a:prstGeom prst="homePlate">
            <a:avLst>
              <a:gd name="adj" fmla="val 36141"/>
            </a:avLst>
          </a:prstGeom>
          <a:solidFill>
            <a:srgbClr val="C00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6BCCCDB-BF6A-1E53-2B1A-7B65D74C4323}"/>
              </a:ext>
            </a:extLst>
          </p:cNvPr>
          <p:cNvSpPr txBox="1"/>
          <p:nvPr/>
        </p:nvSpPr>
        <p:spPr>
          <a:xfrm>
            <a:off x="397274" y="2380394"/>
            <a:ext cx="601653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 Ideal for </a:t>
            </a:r>
            <a:r>
              <a:rPr lang="en-US" sz="2800" dirty="0" err="1"/>
              <a:t>coastal,rainy</a:t>
            </a:r>
            <a:r>
              <a:rPr lang="en-US" sz="2800" dirty="0"/>
              <a:t> &amp; </a:t>
            </a:r>
          </a:p>
          <a:p>
            <a:r>
              <a:rPr lang="en-US" sz="2800" dirty="0"/>
              <a:t>humid conditions</a:t>
            </a:r>
            <a:endParaRPr lang="en-IN" sz="2800" dirty="0"/>
          </a:p>
        </p:txBody>
      </p:sp>
      <p:sp>
        <p:nvSpPr>
          <p:cNvPr id="17" name="Title 16">
            <a:extLst>
              <a:ext uri="{FF2B5EF4-FFF2-40B4-BE49-F238E27FC236}">
                <a16:creationId xmlns:a16="http://schemas.microsoft.com/office/drawing/2014/main" id="{2795B8D3-BEFE-248B-3668-01BC76A79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99486"/>
            <a:ext cx="10515600" cy="1325563"/>
          </a:xfrm>
        </p:spPr>
        <p:txBody>
          <a:bodyPr>
            <a:normAutofit/>
          </a:bodyPr>
          <a:lstStyle/>
          <a:p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Benefits of Cavity Wax Treatment</a:t>
            </a:r>
            <a:endParaRPr lang="en-IN" sz="36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194BF62-C81C-680B-774D-4964DB4E3CBF}"/>
              </a:ext>
            </a:extLst>
          </p:cNvPr>
          <p:cNvSpPr txBox="1"/>
          <p:nvPr/>
        </p:nvSpPr>
        <p:spPr>
          <a:xfrm>
            <a:off x="4196710" y="1155595"/>
            <a:ext cx="128016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0E425B9-74DB-A74A-92E5-B0BB46A12831}"/>
              </a:ext>
            </a:extLst>
          </p:cNvPr>
          <p:cNvSpPr txBox="1"/>
          <p:nvPr/>
        </p:nvSpPr>
        <p:spPr>
          <a:xfrm>
            <a:off x="2851877" y="3646287"/>
            <a:ext cx="128016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7EB7654-A708-30D2-CD9B-8F65E4CCB681}"/>
              </a:ext>
            </a:extLst>
          </p:cNvPr>
          <p:cNvSpPr txBox="1"/>
          <p:nvPr/>
        </p:nvSpPr>
        <p:spPr>
          <a:xfrm>
            <a:off x="5455919" y="5004262"/>
            <a:ext cx="128016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33EA834-4925-51DE-4BBA-CAA4B8368D2C}"/>
              </a:ext>
            </a:extLst>
          </p:cNvPr>
          <p:cNvSpPr txBox="1"/>
          <p:nvPr/>
        </p:nvSpPr>
        <p:spPr>
          <a:xfrm>
            <a:off x="6794770" y="2413337"/>
            <a:ext cx="128016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02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798EFE38-DD0B-67F5-0445-B444B5E7D9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9291" y="1130449"/>
            <a:ext cx="6468427" cy="883546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DE4BB26D-C818-DB0F-63E4-9BF8A58397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1668" y="3884097"/>
            <a:ext cx="5693961" cy="883546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8BDD1A5B-02B1-911A-C8E7-4379ED6C90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75" y="5289590"/>
            <a:ext cx="5238572" cy="730335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44F97449-EF9A-6EBA-A69C-073678576B30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2941"/>
          <a:stretch/>
        </p:blipFill>
        <p:spPr>
          <a:xfrm rot="16200000" flipH="1" flipV="1">
            <a:off x="3420542" y="4116613"/>
            <a:ext cx="1280160" cy="214270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5578EDAF-32F7-5468-92AD-D549FB7A9F5A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2941"/>
          <a:stretch/>
        </p:blipFill>
        <p:spPr>
          <a:xfrm flipH="1" flipV="1">
            <a:off x="4196710" y="2082228"/>
            <a:ext cx="1280160" cy="214270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9EC18193-1C6E-FC21-4A92-B0433639ADDF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2941"/>
          <a:stretch/>
        </p:blipFill>
        <p:spPr>
          <a:xfrm flipH="1">
            <a:off x="5441381" y="4869286"/>
            <a:ext cx="1280160" cy="277191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01575406-F9D3-7C4C-E07E-A863CBF6DF4A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2941"/>
          <a:stretch/>
        </p:blipFill>
        <p:spPr>
          <a:xfrm rot="5400000" flipH="1" flipV="1">
            <a:off x="6217549" y="2789044"/>
            <a:ext cx="1280160" cy="214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189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480FB2-693F-C66A-7273-8CC068C13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How Cavity Wax Treatment Improves Business</a:t>
            </a:r>
            <a:endParaRPr lang="en-IN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DABF6D-6767-10CC-1A0E-645FAC29ED11}"/>
              </a:ext>
            </a:extLst>
          </p:cNvPr>
          <p:cNvSpPr txBox="1"/>
          <p:nvPr/>
        </p:nvSpPr>
        <p:spPr>
          <a:xfrm>
            <a:off x="458465" y="1938756"/>
            <a:ext cx="9847162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• High-value preventive service with good margin</a:t>
            </a:r>
          </a:p>
          <a:p>
            <a:endParaRPr lang="en-US" sz="2800" dirty="0"/>
          </a:p>
          <a:p>
            <a:r>
              <a:rPr lang="en-US" sz="2800" dirty="0"/>
              <a:t>• Easy upsell during new car &amp; periodic service</a:t>
            </a:r>
          </a:p>
          <a:p>
            <a:endParaRPr lang="en-US" sz="2800" dirty="0"/>
          </a:p>
          <a:p>
            <a:r>
              <a:rPr lang="en-US" sz="2800" dirty="0"/>
              <a:t>• Combine with underbody or paint protection</a:t>
            </a:r>
          </a:p>
          <a:p>
            <a:endParaRPr lang="en-US" sz="2800" dirty="0"/>
          </a:p>
          <a:p>
            <a:r>
              <a:rPr lang="en-US" sz="2800" dirty="0"/>
              <a:t>• Builds customer trust &amp; repeat business</a:t>
            </a:r>
            <a:endParaRPr lang="en-IN" sz="280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065AF98-DFD4-82CF-0BD0-22830135E028}"/>
              </a:ext>
            </a:extLst>
          </p:cNvPr>
          <p:cNvSpPr/>
          <p:nvPr/>
        </p:nvSpPr>
        <p:spPr>
          <a:xfrm>
            <a:off x="7941252" y="4788916"/>
            <a:ext cx="3845754" cy="1666184"/>
          </a:xfrm>
          <a:custGeom>
            <a:avLst/>
            <a:gdLst>
              <a:gd name="csX0" fmla="*/ 3105297 w 3845754"/>
              <a:gd name="csY0" fmla="*/ 633840 h 1666184"/>
              <a:gd name="csX1" fmla="*/ 3572711 w 3845754"/>
              <a:gd name="csY1" fmla="*/ 316920 h 1666184"/>
              <a:gd name="csX2" fmla="*/ 3845755 w 3845754"/>
              <a:gd name="csY2" fmla="*/ 502052 h 1666184"/>
              <a:gd name="csX3" fmla="*/ 3845755 w 3845754"/>
              <a:gd name="csY3" fmla="*/ 0 h 1666184"/>
              <a:gd name="csX4" fmla="*/ 3105297 w 3845754"/>
              <a:gd name="csY4" fmla="*/ 0 h 1666184"/>
              <a:gd name="csX5" fmla="*/ 3378341 w 3845754"/>
              <a:gd name="csY5" fmla="*/ 185132 h 1666184"/>
              <a:gd name="csX6" fmla="*/ 2920182 w 3845754"/>
              <a:gd name="csY6" fmla="*/ 495776 h 1666184"/>
              <a:gd name="csX7" fmla="*/ 2133445 w 3845754"/>
              <a:gd name="csY7" fmla="*/ 1029206 h 1666184"/>
              <a:gd name="csX8" fmla="*/ 1439266 w 3845754"/>
              <a:gd name="csY8" fmla="*/ 558533 h 1666184"/>
              <a:gd name="csX9" fmla="*/ 0 w 3845754"/>
              <a:gd name="csY9" fmla="*/ 1534396 h 1666184"/>
              <a:gd name="csX10" fmla="*/ 194370 w 3845754"/>
              <a:gd name="csY10" fmla="*/ 1666185 h 1666184"/>
              <a:gd name="csX11" fmla="*/ 1439266 w 3845754"/>
              <a:gd name="csY11" fmla="*/ 822110 h 1666184"/>
              <a:gd name="csX12" fmla="*/ 2133445 w 3845754"/>
              <a:gd name="csY12" fmla="*/ 1292783 h 1666184"/>
              <a:gd name="csX13" fmla="*/ 3105297 w 3845754"/>
              <a:gd name="csY13" fmla="*/ 633840 h 16661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3845754" h="1666184">
                <a:moveTo>
                  <a:pt x="3105297" y="633840"/>
                </a:moveTo>
                <a:lnTo>
                  <a:pt x="3572711" y="316920"/>
                </a:lnTo>
                <a:lnTo>
                  <a:pt x="3845755" y="502052"/>
                </a:lnTo>
                <a:lnTo>
                  <a:pt x="3845755" y="0"/>
                </a:lnTo>
                <a:lnTo>
                  <a:pt x="3105297" y="0"/>
                </a:lnTo>
                <a:lnTo>
                  <a:pt x="3378341" y="185132"/>
                </a:lnTo>
                <a:lnTo>
                  <a:pt x="2920182" y="495776"/>
                </a:lnTo>
                <a:lnTo>
                  <a:pt x="2133445" y="1029206"/>
                </a:lnTo>
                <a:lnTo>
                  <a:pt x="1439266" y="558533"/>
                </a:lnTo>
                <a:lnTo>
                  <a:pt x="0" y="1534396"/>
                </a:lnTo>
                <a:lnTo>
                  <a:pt x="194370" y="1666185"/>
                </a:lnTo>
                <a:lnTo>
                  <a:pt x="1439266" y="822110"/>
                </a:lnTo>
                <a:lnTo>
                  <a:pt x="2133445" y="1292783"/>
                </a:lnTo>
                <a:lnTo>
                  <a:pt x="3105297" y="633840"/>
                </a:lnTo>
                <a:close/>
              </a:path>
            </a:pathLst>
          </a:custGeom>
          <a:solidFill>
            <a:srgbClr val="000000"/>
          </a:solidFill>
          <a:ln w="46236" cap="flat">
            <a:noFill/>
            <a:prstDash val="solid"/>
            <a:miter/>
          </a:ln>
        </p:spPr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E22B0AD-04FE-51C8-2B83-11D15BFD0A9B}"/>
              </a:ext>
            </a:extLst>
          </p:cNvPr>
          <p:cNvSpPr/>
          <p:nvPr/>
        </p:nvSpPr>
        <p:spPr>
          <a:xfrm>
            <a:off x="8223552" y="4263330"/>
            <a:ext cx="462786" cy="313782"/>
          </a:xfrm>
          <a:prstGeom prst="ellipse">
            <a:avLst/>
          </a:prstGeom>
          <a:solidFill>
            <a:srgbClr val="000000"/>
          </a:solidFill>
          <a:ln w="46236" cap="flat">
            <a:noFill/>
            <a:prstDash val="solid"/>
            <a:miter/>
          </a:ln>
        </p:spPr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9F5963C6-F855-88FD-C714-6C4F6A77B3CC}"/>
              </a:ext>
            </a:extLst>
          </p:cNvPr>
          <p:cNvSpPr/>
          <p:nvPr/>
        </p:nvSpPr>
        <p:spPr>
          <a:xfrm>
            <a:off x="7900288" y="4608499"/>
            <a:ext cx="2936155" cy="1345804"/>
          </a:xfrm>
          <a:custGeom>
            <a:avLst/>
            <a:gdLst>
              <a:gd name="csX0" fmla="*/ 2783899 w 2936155"/>
              <a:gd name="csY0" fmla="*/ 618457 h 1345804"/>
              <a:gd name="csX1" fmla="*/ 2830177 w 2936155"/>
              <a:gd name="csY1" fmla="*/ 587079 h 1345804"/>
              <a:gd name="csX2" fmla="*/ 2936155 w 2936155"/>
              <a:gd name="csY2" fmla="*/ 515223 h 1345804"/>
              <a:gd name="csX3" fmla="*/ 2807501 w 2936155"/>
              <a:gd name="csY3" fmla="*/ 122995 h 1345804"/>
              <a:gd name="csX4" fmla="*/ 2776031 w 2936155"/>
              <a:gd name="csY4" fmla="*/ 87851 h 1345804"/>
              <a:gd name="csX5" fmla="*/ 2590917 w 2936155"/>
              <a:gd name="csY5" fmla="*/ 21016 h 1345804"/>
              <a:gd name="csX6" fmla="*/ 2217911 w 2936155"/>
              <a:gd name="csY6" fmla="*/ 21016 h 1345804"/>
              <a:gd name="csX7" fmla="*/ 2032796 w 2936155"/>
              <a:gd name="csY7" fmla="*/ 87851 h 1345804"/>
              <a:gd name="csX8" fmla="*/ 2001327 w 2936155"/>
              <a:gd name="csY8" fmla="*/ 122995 h 1345804"/>
              <a:gd name="csX9" fmla="*/ 1943016 w 2936155"/>
              <a:gd name="csY9" fmla="*/ 306871 h 1345804"/>
              <a:gd name="csX10" fmla="*/ 1943016 w 2936155"/>
              <a:gd name="csY10" fmla="*/ 306871 h 1345804"/>
              <a:gd name="csX11" fmla="*/ 1882391 w 2936155"/>
              <a:gd name="csY11" fmla="*/ 122995 h 1345804"/>
              <a:gd name="csX12" fmla="*/ 1850459 w 2936155"/>
              <a:gd name="csY12" fmla="*/ 87851 h 1345804"/>
              <a:gd name="csX13" fmla="*/ 1665344 w 2936155"/>
              <a:gd name="csY13" fmla="*/ 21016 h 1345804"/>
              <a:gd name="csX14" fmla="*/ 1110001 w 2936155"/>
              <a:gd name="csY14" fmla="*/ 87851 h 1345804"/>
              <a:gd name="csX15" fmla="*/ 1078531 w 2936155"/>
              <a:gd name="csY15" fmla="*/ 122995 h 1345804"/>
              <a:gd name="csX16" fmla="*/ 1017443 w 2936155"/>
              <a:gd name="csY16" fmla="*/ 300909 h 1345804"/>
              <a:gd name="csX17" fmla="*/ 1017443 w 2936155"/>
              <a:gd name="csY17" fmla="*/ 300909 h 1345804"/>
              <a:gd name="csX18" fmla="*/ 957281 w 2936155"/>
              <a:gd name="csY18" fmla="*/ 122995 h 1345804"/>
              <a:gd name="csX19" fmla="*/ 924886 w 2936155"/>
              <a:gd name="csY19" fmla="*/ 87851 h 1345804"/>
              <a:gd name="csX20" fmla="*/ 739771 w 2936155"/>
              <a:gd name="csY20" fmla="*/ 21016 h 1345804"/>
              <a:gd name="csX21" fmla="*/ 366766 w 2936155"/>
              <a:gd name="csY21" fmla="*/ 21016 h 1345804"/>
              <a:gd name="csX22" fmla="*/ 181651 w 2936155"/>
              <a:gd name="csY22" fmla="*/ 87851 h 1345804"/>
              <a:gd name="csX23" fmla="*/ 150182 w 2936155"/>
              <a:gd name="csY23" fmla="*/ 122995 h 1345804"/>
              <a:gd name="csX24" fmla="*/ 3015 w 2936155"/>
              <a:gd name="csY24" fmla="*/ 578607 h 1345804"/>
              <a:gd name="csX25" fmla="*/ 72873 w 2936155"/>
              <a:gd name="csY25" fmla="*/ 658345 h 1345804"/>
              <a:gd name="csX26" fmla="*/ 76599 w 2936155"/>
              <a:gd name="csY26" fmla="*/ 658935 h 1345804"/>
              <a:gd name="csX27" fmla="*/ 91870 w 2936155"/>
              <a:gd name="csY27" fmla="*/ 658935 h 1345804"/>
              <a:gd name="csX28" fmla="*/ 184428 w 2936155"/>
              <a:gd name="csY28" fmla="*/ 609671 h 1345804"/>
              <a:gd name="csX29" fmla="*/ 323264 w 2936155"/>
              <a:gd name="csY29" fmla="*/ 188262 h 1345804"/>
              <a:gd name="csX30" fmla="*/ 323264 w 2936155"/>
              <a:gd name="csY30" fmla="*/ 188262 h 1345804"/>
              <a:gd name="csX31" fmla="*/ 323264 w 2936155"/>
              <a:gd name="csY31" fmla="*/ 411047 h 1345804"/>
              <a:gd name="csX32" fmla="*/ 184428 w 2936155"/>
              <a:gd name="csY32" fmla="*/ 878583 h 1345804"/>
              <a:gd name="csX33" fmla="*/ 323264 w 2936155"/>
              <a:gd name="csY33" fmla="*/ 878583 h 1345804"/>
              <a:gd name="csX34" fmla="*/ 323264 w 2936155"/>
              <a:gd name="csY34" fmla="*/ 1345805 h 1345804"/>
              <a:gd name="csX35" fmla="*/ 508378 w 2936155"/>
              <a:gd name="csY35" fmla="*/ 1220292 h 1345804"/>
              <a:gd name="csX36" fmla="*/ 508378 w 2936155"/>
              <a:gd name="csY36" fmla="*/ 878583 h 1345804"/>
              <a:gd name="csX37" fmla="*/ 600936 w 2936155"/>
              <a:gd name="csY37" fmla="*/ 878583 h 1345804"/>
              <a:gd name="csX38" fmla="*/ 600936 w 2936155"/>
              <a:gd name="csY38" fmla="*/ 1157535 h 1345804"/>
              <a:gd name="csX39" fmla="*/ 786050 w 2936155"/>
              <a:gd name="csY39" fmla="*/ 1032022 h 1345804"/>
              <a:gd name="csX40" fmla="*/ 786050 w 2936155"/>
              <a:gd name="csY40" fmla="*/ 878583 h 1345804"/>
              <a:gd name="csX41" fmla="*/ 924886 w 2936155"/>
              <a:gd name="csY41" fmla="*/ 878583 h 1345804"/>
              <a:gd name="csX42" fmla="*/ 786050 w 2936155"/>
              <a:gd name="csY42" fmla="*/ 411361 h 1345804"/>
              <a:gd name="csX43" fmla="*/ 786050 w 2936155"/>
              <a:gd name="csY43" fmla="*/ 191713 h 1345804"/>
              <a:gd name="csX44" fmla="*/ 786050 w 2936155"/>
              <a:gd name="csY44" fmla="*/ 191713 h 1345804"/>
              <a:gd name="csX45" fmla="*/ 924886 w 2936155"/>
              <a:gd name="csY45" fmla="*/ 601513 h 1345804"/>
              <a:gd name="csX46" fmla="*/ 1017443 w 2936155"/>
              <a:gd name="csY46" fmla="*/ 658935 h 1345804"/>
              <a:gd name="csX47" fmla="*/ 1017443 w 2936155"/>
              <a:gd name="csY47" fmla="*/ 658935 h 1345804"/>
              <a:gd name="csX48" fmla="*/ 1107224 w 2936155"/>
              <a:gd name="csY48" fmla="*/ 609671 h 1345804"/>
              <a:gd name="csX49" fmla="*/ 1110001 w 2936155"/>
              <a:gd name="csY49" fmla="*/ 596179 h 1345804"/>
              <a:gd name="csX50" fmla="*/ 1245134 w 2936155"/>
              <a:gd name="csY50" fmla="*/ 193596 h 1345804"/>
              <a:gd name="csX51" fmla="*/ 1245134 w 2936155"/>
              <a:gd name="csY51" fmla="*/ 193596 h 1345804"/>
              <a:gd name="csX52" fmla="*/ 1245134 w 2936155"/>
              <a:gd name="csY52" fmla="*/ 719809 h 1345804"/>
              <a:gd name="csX53" fmla="*/ 1347410 w 2936155"/>
              <a:gd name="csY53" fmla="*/ 650149 h 1345804"/>
              <a:gd name="csX54" fmla="*/ 1609204 w 2936155"/>
              <a:gd name="csY54" fmla="*/ 650052 h 1345804"/>
              <a:gd name="csX55" fmla="*/ 1609347 w 2936155"/>
              <a:gd name="csY55" fmla="*/ 650149 h 1345804"/>
              <a:gd name="csX56" fmla="*/ 1711623 w 2936155"/>
              <a:gd name="csY56" fmla="*/ 716985 h 1345804"/>
              <a:gd name="csX57" fmla="*/ 1711623 w 2936155"/>
              <a:gd name="csY57" fmla="*/ 193910 h 1345804"/>
              <a:gd name="csX58" fmla="*/ 1711623 w 2936155"/>
              <a:gd name="csY58" fmla="*/ 193910 h 1345804"/>
              <a:gd name="csX59" fmla="*/ 1850459 w 2936155"/>
              <a:gd name="csY59" fmla="*/ 609985 h 1345804"/>
              <a:gd name="csX60" fmla="*/ 1943016 w 2936155"/>
              <a:gd name="csY60" fmla="*/ 658935 h 1345804"/>
              <a:gd name="csX61" fmla="*/ 1943016 w 2936155"/>
              <a:gd name="csY61" fmla="*/ 658935 h 1345804"/>
              <a:gd name="csX62" fmla="*/ 2033259 w 2936155"/>
              <a:gd name="csY62" fmla="*/ 609671 h 1345804"/>
              <a:gd name="csX63" fmla="*/ 2172095 w 2936155"/>
              <a:gd name="csY63" fmla="*/ 193596 h 1345804"/>
              <a:gd name="csX64" fmla="*/ 2172095 w 2936155"/>
              <a:gd name="csY64" fmla="*/ 193596 h 1345804"/>
              <a:gd name="csX65" fmla="*/ 2172095 w 2936155"/>
              <a:gd name="csY65" fmla="*/ 1031395 h 1345804"/>
              <a:gd name="csX66" fmla="*/ 2172095 w 2936155"/>
              <a:gd name="csY66" fmla="*/ 1031395 h 1345804"/>
              <a:gd name="csX67" fmla="*/ 2357210 w 2936155"/>
              <a:gd name="csY67" fmla="*/ 905882 h 1345804"/>
              <a:gd name="csX68" fmla="*/ 2357210 w 2936155"/>
              <a:gd name="csY68" fmla="*/ 690313 h 1345804"/>
              <a:gd name="csX69" fmla="*/ 2449767 w 2936155"/>
              <a:gd name="csY69" fmla="*/ 690313 h 1345804"/>
              <a:gd name="csX70" fmla="*/ 2449767 w 2936155"/>
              <a:gd name="csY70" fmla="*/ 844381 h 1345804"/>
              <a:gd name="csX71" fmla="*/ 2634882 w 2936155"/>
              <a:gd name="csY71" fmla="*/ 718868 h 1345804"/>
              <a:gd name="csX72" fmla="*/ 2634882 w 2936155"/>
              <a:gd name="csY72" fmla="*/ 193910 h 1345804"/>
              <a:gd name="csX73" fmla="*/ 2634882 w 2936155"/>
              <a:gd name="csY73" fmla="*/ 193910 h 1345804"/>
              <a:gd name="csX74" fmla="*/ 2780659 w 2936155"/>
              <a:gd name="csY74" fmla="*/ 618771 h 134580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</a:cxnLst>
            <a:rect l="l" t="t" r="r" b="b"/>
            <a:pathLst>
              <a:path w="2936155" h="1345804">
                <a:moveTo>
                  <a:pt x="2783899" y="618457"/>
                </a:moveTo>
                <a:lnTo>
                  <a:pt x="2830177" y="587079"/>
                </a:lnTo>
                <a:lnTo>
                  <a:pt x="2936155" y="515223"/>
                </a:lnTo>
                <a:lnTo>
                  <a:pt x="2807501" y="122995"/>
                </a:lnTo>
                <a:cubicBezTo>
                  <a:pt x="2803567" y="109101"/>
                  <a:pt x="2792396" y="96628"/>
                  <a:pt x="2776031" y="87851"/>
                </a:cubicBezTo>
                <a:cubicBezTo>
                  <a:pt x="2720604" y="58362"/>
                  <a:pt x="2657938" y="35738"/>
                  <a:pt x="2590917" y="21016"/>
                </a:cubicBezTo>
                <a:cubicBezTo>
                  <a:pt x="2470014" y="-7005"/>
                  <a:pt x="2338814" y="-7005"/>
                  <a:pt x="2217911" y="21016"/>
                </a:cubicBezTo>
                <a:cubicBezTo>
                  <a:pt x="2150909" y="35773"/>
                  <a:pt x="2088252" y="58396"/>
                  <a:pt x="2032796" y="87851"/>
                </a:cubicBezTo>
                <a:cubicBezTo>
                  <a:pt x="2016784" y="96838"/>
                  <a:pt x="2005700" y="109217"/>
                  <a:pt x="2001327" y="122995"/>
                </a:cubicBezTo>
                <a:lnTo>
                  <a:pt x="1943016" y="306871"/>
                </a:lnTo>
                <a:lnTo>
                  <a:pt x="1943016" y="306871"/>
                </a:lnTo>
                <a:lnTo>
                  <a:pt x="1882391" y="122995"/>
                </a:lnTo>
                <a:cubicBezTo>
                  <a:pt x="1878147" y="109107"/>
                  <a:pt x="1866846" y="96668"/>
                  <a:pt x="1850459" y="87851"/>
                </a:cubicBezTo>
                <a:cubicBezTo>
                  <a:pt x="1795031" y="58362"/>
                  <a:pt x="1732365" y="35738"/>
                  <a:pt x="1665344" y="21016"/>
                </a:cubicBezTo>
                <a:cubicBezTo>
                  <a:pt x="1475343" y="-20564"/>
                  <a:pt x="1267292" y="4473"/>
                  <a:pt x="1110001" y="87851"/>
                </a:cubicBezTo>
                <a:cubicBezTo>
                  <a:pt x="1093988" y="96838"/>
                  <a:pt x="1082904" y="109217"/>
                  <a:pt x="1078531" y="122995"/>
                </a:cubicBezTo>
                <a:lnTo>
                  <a:pt x="1017443" y="300909"/>
                </a:lnTo>
                <a:cubicBezTo>
                  <a:pt x="1017443" y="300909"/>
                  <a:pt x="1017443" y="300909"/>
                  <a:pt x="1017443" y="300909"/>
                </a:cubicBezTo>
                <a:lnTo>
                  <a:pt x="957281" y="122995"/>
                </a:lnTo>
                <a:cubicBezTo>
                  <a:pt x="952662" y="109132"/>
                  <a:pt x="941241" y="96741"/>
                  <a:pt x="924886" y="87851"/>
                </a:cubicBezTo>
                <a:cubicBezTo>
                  <a:pt x="869430" y="58396"/>
                  <a:pt x="806774" y="35773"/>
                  <a:pt x="739771" y="21016"/>
                </a:cubicBezTo>
                <a:cubicBezTo>
                  <a:pt x="618869" y="-7005"/>
                  <a:pt x="487669" y="-7005"/>
                  <a:pt x="366766" y="21016"/>
                </a:cubicBezTo>
                <a:cubicBezTo>
                  <a:pt x="299805" y="35839"/>
                  <a:pt x="237167" y="58456"/>
                  <a:pt x="181651" y="87851"/>
                </a:cubicBezTo>
                <a:cubicBezTo>
                  <a:pt x="165639" y="96838"/>
                  <a:pt x="154554" y="109217"/>
                  <a:pt x="150182" y="122995"/>
                </a:cubicBezTo>
                <a:lnTo>
                  <a:pt x="3015" y="578607"/>
                </a:lnTo>
                <a:cubicBezTo>
                  <a:pt x="-10169" y="613707"/>
                  <a:pt x="21107" y="649406"/>
                  <a:pt x="72873" y="658345"/>
                </a:cubicBezTo>
                <a:cubicBezTo>
                  <a:pt x="74109" y="658559"/>
                  <a:pt x="75351" y="658756"/>
                  <a:pt x="76599" y="658935"/>
                </a:cubicBezTo>
                <a:cubicBezTo>
                  <a:pt x="81679" y="659246"/>
                  <a:pt x="86790" y="659246"/>
                  <a:pt x="91870" y="658935"/>
                </a:cubicBezTo>
                <a:cubicBezTo>
                  <a:pt x="136129" y="659635"/>
                  <a:pt x="174922" y="638988"/>
                  <a:pt x="184428" y="609671"/>
                </a:cubicBezTo>
                <a:lnTo>
                  <a:pt x="323264" y="188262"/>
                </a:lnTo>
                <a:lnTo>
                  <a:pt x="323264" y="188262"/>
                </a:lnTo>
                <a:lnTo>
                  <a:pt x="323264" y="411047"/>
                </a:lnTo>
                <a:lnTo>
                  <a:pt x="184428" y="878583"/>
                </a:lnTo>
                <a:lnTo>
                  <a:pt x="323264" y="878583"/>
                </a:lnTo>
                <a:lnTo>
                  <a:pt x="323264" y="1345805"/>
                </a:lnTo>
                <a:lnTo>
                  <a:pt x="508378" y="1220292"/>
                </a:lnTo>
                <a:lnTo>
                  <a:pt x="508378" y="878583"/>
                </a:lnTo>
                <a:lnTo>
                  <a:pt x="600936" y="878583"/>
                </a:lnTo>
                <a:lnTo>
                  <a:pt x="600936" y="1157535"/>
                </a:lnTo>
                <a:lnTo>
                  <a:pt x="786050" y="1032022"/>
                </a:lnTo>
                <a:lnTo>
                  <a:pt x="786050" y="878583"/>
                </a:lnTo>
                <a:lnTo>
                  <a:pt x="924886" y="878583"/>
                </a:lnTo>
                <a:lnTo>
                  <a:pt x="786050" y="411361"/>
                </a:lnTo>
                <a:lnTo>
                  <a:pt x="786050" y="191713"/>
                </a:lnTo>
                <a:lnTo>
                  <a:pt x="786050" y="191713"/>
                </a:lnTo>
                <a:lnTo>
                  <a:pt x="924886" y="601513"/>
                </a:lnTo>
                <a:cubicBezTo>
                  <a:pt x="928982" y="634074"/>
                  <a:pt x="969249" y="659054"/>
                  <a:pt x="1017443" y="658935"/>
                </a:cubicBezTo>
                <a:lnTo>
                  <a:pt x="1017443" y="658935"/>
                </a:lnTo>
                <a:cubicBezTo>
                  <a:pt x="1060663" y="658741"/>
                  <a:pt x="1097931" y="638291"/>
                  <a:pt x="1107224" y="609671"/>
                </a:cubicBezTo>
                <a:lnTo>
                  <a:pt x="1110001" y="596179"/>
                </a:lnTo>
                <a:lnTo>
                  <a:pt x="1245134" y="193596"/>
                </a:lnTo>
                <a:cubicBezTo>
                  <a:pt x="1245134" y="193596"/>
                  <a:pt x="1245134" y="193596"/>
                  <a:pt x="1245134" y="193596"/>
                </a:cubicBezTo>
                <a:lnTo>
                  <a:pt x="1245134" y="719809"/>
                </a:lnTo>
                <a:lnTo>
                  <a:pt x="1347410" y="650149"/>
                </a:lnTo>
                <a:cubicBezTo>
                  <a:pt x="1419660" y="601105"/>
                  <a:pt x="1536870" y="601061"/>
                  <a:pt x="1609204" y="650052"/>
                </a:cubicBezTo>
                <a:cubicBezTo>
                  <a:pt x="1609250" y="650083"/>
                  <a:pt x="1609301" y="650118"/>
                  <a:pt x="1609347" y="650149"/>
                </a:cubicBezTo>
                <a:lnTo>
                  <a:pt x="1711623" y="716985"/>
                </a:lnTo>
                <a:lnTo>
                  <a:pt x="1711623" y="193910"/>
                </a:lnTo>
                <a:cubicBezTo>
                  <a:pt x="1711623" y="193910"/>
                  <a:pt x="1711623" y="193910"/>
                  <a:pt x="1711623" y="193910"/>
                </a:cubicBezTo>
                <a:lnTo>
                  <a:pt x="1850459" y="609985"/>
                </a:lnTo>
                <a:cubicBezTo>
                  <a:pt x="1860154" y="639176"/>
                  <a:pt x="1898899" y="659666"/>
                  <a:pt x="1943016" y="658935"/>
                </a:cubicBezTo>
                <a:lnTo>
                  <a:pt x="1943016" y="658935"/>
                </a:lnTo>
                <a:cubicBezTo>
                  <a:pt x="1986411" y="658888"/>
                  <a:pt x="2023930" y="638404"/>
                  <a:pt x="2033259" y="609671"/>
                </a:cubicBezTo>
                <a:lnTo>
                  <a:pt x="2172095" y="193596"/>
                </a:lnTo>
                <a:cubicBezTo>
                  <a:pt x="2172095" y="193596"/>
                  <a:pt x="2172095" y="193596"/>
                  <a:pt x="2172095" y="193596"/>
                </a:cubicBezTo>
                <a:lnTo>
                  <a:pt x="2172095" y="1031395"/>
                </a:lnTo>
                <a:lnTo>
                  <a:pt x="2172095" y="1031395"/>
                </a:lnTo>
                <a:lnTo>
                  <a:pt x="2357210" y="905882"/>
                </a:lnTo>
                <a:lnTo>
                  <a:pt x="2357210" y="690313"/>
                </a:lnTo>
                <a:lnTo>
                  <a:pt x="2449767" y="690313"/>
                </a:lnTo>
                <a:lnTo>
                  <a:pt x="2449767" y="844381"/>
                </a:lnTo>
                <a:lnTo>
                  <a:pt x="2634882" y="718868"/>
                </a:lnTo>
                <a:lnTo>
                  <a:pt x="2634882" y="193910"/>
                </a:lnTo>
                <a:cubicBezTo>
                  <a:pt x="2634882" y="193910"/>
                  <a:pt x="2634882" y="193910"/>
                  <a:pt x="2634882" y="193910"/>
                </a:cubicBezTo>
                <a:lnTo>
                  <a:pt x="2780659" y="618771"/>
                </a:lnTo>
                <a:close/>
              </a:path>
            </a:pathLst>
          </a:custGeom>
          <a:solidFill>
            <a:srgbClr val="000000"/>
          </a:solidFill>
          <a:ln w="46236" cap="flat">
            <a:noFill/>
            <a:prstDash val="solid"/>
            <a:miter/>
          </a:ln>
        </p:spPr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A0C6417-3F90-55BC-F39B-1452017DDA75}"/>
              </a:ext>
            </a:extLst>
          </p:cNvPr>
          <p:cNvSpPr/>
          <p:nvPr/>
        </p:nvSpPr>
        <p:spPr>
          <a:xfrm>
            <a:off x="10074234" y="4263330"/>
            <a:ext cx="462786" cy="313782"/>
          </a:xfrm>
          <a:prstGeom prst="ellipse">
            <a:avLst/>
          </a:prstGeom>
          <a:solidFill>
            <a:srgbClr val="000000"/>
          </a:solidFill>
          <a:ln w="46236" cap="flat">
            <a:noFill/>
            <a:prstDash val="solid"/>
            <a:miter/>
          </a:ln>
        </p:spPr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6334D806-B923-E168-A08A-3D07C946000F}"/>
              </a:ext>
            </a:extLst>
          </p:cNvPr>
          <p:cNvSpPr/>
          <p:nvPr/>
        </p:nvSpPr>
        <p:spPr>
          <a:xfrm>
            <a:off x="9147273" y="4263330"/>
            <a:ext cx="462786" cy="313782"/>
          </a:xfrm>
          <a:prstGeom prst="ellipse">
            <a:avLst/>
          </a:prstGeom>
          <a:solidFill>
            <a:srgbClr val="000000"/>
          </a:solidFill>
          <a:ln w="46236" cap="flat">
            <a:noFill/>
            <a:prstDash val="solid"/>
            <a:miter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661AD3E-FE7D-2DEB-7318-E8075E438EA4}"/>
              </a:ext>
            </a:extLst>
          </p:cNvPr>
          <p:cNvSpPr/>
          <p:nvPr/>
        </p:nvSpPr>
        <p:spPr>
          <a:xfrm>
            <a:off x="7900287" y="1180617"/>
            <a:ext cx="3886719" cy="5567423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B386408-94B9-605F-B40D-75A34D3E4F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8182" y="1561707"/>
            <a:ext cx="2740117" cy="598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6524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32303-9171-97D3-51F0-73494F0C40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6233" y="0"/>
            <a:ext cx="3932237" cy="1600200"/>
          </a:xfrm>
        </p:spPr>
        <p:txBody>
          <a:bodyPr>
            <a:normAutofit/>
          </a:bodyPr>
          <a:lstStyle/>
          <a:p>
            <a:r>
              <a:rPr kumimoji="0" lang="en-US" sz="5400" b="0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Conclusion</a:t>
            </a:r>
            <a:endParaRPr lang="en-IN" sz="54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E773AF-5914-A0FA-4200-11BA29FCDC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37500" y="2399538"/>
            <a:ext cx="3932237" cy="3811588"/>
          </a:xfrm>
        </p:spPr>
        <p:txBody>
          <a:bodyPr>
            <a:normAutofit/>
          </a:bodyPr>
          <a:lstStyle/>
          <a:p>
            <a:r>
              <a:rPr lang="en-US" sz="2400" dirty="0"/>
              <a:t>• Cavity wax treatment is long-term rust protection</a:t>
            </a:r>
          </a:p>
          <a:p>
            <a:r>
              <a:rPr lang="en-US" sz="2400" dirty="0"/>
              <a:t>• Saves customers from costly body repairs</a:t>
            </a:r>
          </a:p>
          <a:p>
            <a:r>
              <a:rPr lang="en-US" sz="2400" dirty="0"/>
              <a:t>• Simple process with strong benefits</a:t>
            </a:r>
          </a:p>
          <a:p>
            <a:r>
              <a:rPr lang="en-US" sz="2400" dirty="0"/>
              <a:t>• Recommended for long vehicle life</a:t>
            </a:r>
            <a:endParaRPr lang="en-IN" sz="24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6985CB6-A22C-048E-8361-8622642890B9}"/>
              </a:ext>
            </a:extLst>
          </p:cNvPr>
          <p:cNvSpPr/>
          <p:nvPr/>
        </p:nvSpPr>
        <p:spPr>
          <a:xfrm>
            <a:off x="7060557" y="289368"/>
            <a:ext cx="4849792" cy="6276372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16" name="Picture Placeholder 15">
            <a:extLst>
              <a:ext uri="{FF2B5EF4-FFF2-40B4-BE49-F238E27FC236}">
                <a16:creationId xmlns:a16="http://schemas.microsoft.com/office/drawing/2014/main" id="{374215E4-49CF-3286-EAE0-880A4AAB0BB6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581" b="9581"/>
          <a:stretch>
            <a:fillRect/>
          </a:stretch>
        </p:blipFill>
        <p:spPr>
          <a:xfrm>
            <a:off x="5269737" y="2568899"/>
            <a:ext cx="4755974" cy="3755360"/>
          </a:xfr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050D1F4-5DD3-E52A-BF44-AC26535A67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1109" y="533741"/>
            <a:ext cx="3848688" cy="840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64034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4A5D8C6-515D-0E71-7522-E606222BF3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0" y="0"/>
            <a:ext cx="12192000" cy="800144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309B013-28AF-2963-AB02-814D02A34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254644" y="1473964"/>
            <a:ext cx="13044669" cy="5258522"/>
          </a:xfrm>
          <a:prstGeom prst="rect">
            <a:avLst/>
          </a:prstGeom>
          <a:solidFill>
            <a:srgbClr val="C00000">
              <a:alpha val="9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577D53C-03B0-FA85-41F4-8EB23F91AAC0}"/>
              </a:ext>
            </a:extLst>
          </p:cNvPr>
          <p:cNvSpPr txBox="1"/>
          <p:nvPr/>
        </p:nvSpPr>
        <p:spPr>
          <a:xfrm>
            <a:off x="3202669" y="2967335"/>
            <a:ext cx="5786662" cy="92333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sz="6000" b="1" dirty="0">
                <a:solidFill>
                  <a:prstClr val="white"/>
                </a:solidFill>
                <a:latin typeface="Century Gothic"/>
              </a:rPr>
              <a:t>THANK</a:t>
            </a:r>
            <a:r>
              <a:rPr lang="en-US" sz="6000" dirty="0">
                <a:solidFill>
                  <a:prstClr val="white"/>
                </a:solidFill>
                <a:latin typeface="Century Gothic"/>
              </a:rPr>
              <a:t> YOU</a:t>
            </a:r>
            <a:endParaRPr lang="en-US" sz="6600" dirty="0">
              <a:solidFill>
                <a:prstClr val="white"/>
              </a:solidFill>
              <a:latin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5266734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172</Words>
  <Application>Microsoft Office PowerPoint</Application>
  <PresentationFormat>Widescreen</PresentationFormat>
  <Paragraphs>35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Light</vt:lpstr>
      <vt:lpstr>Century Gothic</vt:lpstr>
      <vt:lpstr>Wuerth Book</vt:lpstr>
      <vt:lpstr>Office Theme</vt:lpstr>
      <vt:lpstr>PowerPoint Presentation</vt:lpstr>
      <vt:lpstr> What is Cavity Wax Treatment</vt:lpstr>
      <vt:lpstr>Cavity Wax Treatment Process </vt:lpstr>
      <vt:lpstr>Benefits of Cavity Wax Treatment</vt:lpstr>
      <vt:lpstr>How Cavity Wax Treatment Improves Business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anjithak015@outlook.com</dc:creator>
  <cp:lastModifiedBy>anjithak015@outlook.com</cp:lastModifiedBy>
  <cp:revision>1</cp:revision>
  <dcterms:created xsi:type="dcterms:W3CDTF">2026-02-04T10:55:27Z</dcterms:created>
  <dcterms:modified xsi:type="dcterms:W3CDTF">2026-02-04T11:56:50Z</dcterms:modified>
</cp:coreProperties>
</file>